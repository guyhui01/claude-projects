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5124113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44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1068933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Story Map
Aginode e-Commerce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Drupal 10 + Commerce 2.x   ·   PI-2026-Q3   ·   23 User Stories   ·   70 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</a:rPr>
              <a:t>Atelier Story Mapping — 2026-04-15
Participants : PO · BA · UX/UI · Dev Lead
Méthode : Jeff Patton Story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8686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0A500"/>
                </a:solidFill>
              </a:rPr>
              <a:t>Aginode
e-Commerce B2B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8412480"/>
            <a:ext cx="228600" cy="2286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836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Must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8412480"/>
            <a:ext cx="228600" cy="2286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79" y="836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Should Have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8412480"/>
            <a:ext cx="228600" cy="228600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836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Could Have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8412480"/>
            <a:ext cx="228600" cy="228600"/>
          </a:xfrm>
          <a:prstGeom prst="rect">
            <a:avLst/>
          </a:prstGeom>
          <a:solidFill>
            <a:srgbClr val="F8D7DA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836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8412480"/>
            <a:ext cx="228600" cy="228600"/>
          </a:xfrm>
          <a:prstGeom prst="rect">
            <a:avLst/>
          </a:prstGeom>
          <a:solidFill>
            <a:srgbClr val="C3E6CB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836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Livré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0" y="8412480"/>
            <a:ext cx="228600" cy="228600"/>
          </a:xfrm>
          <a:prstGeom prst="rect">
            <a:avLst/>
          </a:prstGeom>
          <a:solidFill>
            <a:srgbClr val="E2D9F3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20" y="8366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Spike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630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Story Map — Swimlane Acheteur B2B   |   Aginode e-Commerce B2B   |   PI-2026-Q3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14538960" cy="320040"/>
          </a:xfrm>
          <a:prstGeom prst="rect">
            <a:avLst/>
          </a:prstGeom>
          <a:solidFill>
            <a:srgbClr val="495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👤  SWIMLANE — ACHETEUR B2B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64592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🔍 Découvrir
le catalogue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19" y="1005840"/>
            <a:ext cx="164592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📝 S'inscrire
compte B2B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05840"/>
            <a:ext cx="242316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🔑 Se connecter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05840"/>
            <a:ext cx="324612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🛒 Commander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005840"/>
            <a:ext cx="169164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💳 Payer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64240" y="1005840"/>
            <a:ext cx="310896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📦 Suivre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Naviguer
par catégorie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Formulaire
d'inscription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737360"/>
            <a:ext cx="11887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Connexion
email + mdp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737360"/>
            <a:ext cx="11887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Gestion
statuts compte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160020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Panier &amp;
N° BC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737360"/>
            <a:ext cx="160020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Validation
commande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737360"/>
            <a:ext cx="169164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Paiement
CB 3DS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64240" y="1737360"/>
            <a:ext cx="155448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Statut &amp;
suivi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64440" y="1737360"/>
            <a:ext cx="150876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Historique
commandes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395728"/>
            <a:ext cx="14173200" cy="256032"/>
          </a:xfrm>
          <a:prstGeom prst="rect">
            <a:avLst/>
          </a:prstGeom>
          <a:solidFill>
            <a:srgbClr val="FFF3CD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F0A500"/>
                </a:solidFill>
              </a:rPr>
              <a:t>  🏃 Sprint 1 — Walking Skeleton : compte B2B activé + catalogue navigable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697480"/>
            <a:ext cx="1572768" cy="685800"/>
          </a:xfrm>
          <a:prstGeom prst="rect">
            <a:avLst/>
          </a:prstGeom>
          <a:solidFill>
            <a:srgbClr val="C3E6CB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55724"/>
                </a:solidFill>
              </a:rPr>
              <a:t>US-001 ✓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Navigation
par catégorie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1368" y="2697480"/>
            <a:ext cx="1572768" cy="685800"/>
          </a:xfrm>
          <a:prstGeom prst="rect">
            <a:avLst/>
          </a:prstGeom>
          <a:solidFill>
            <a:srgbClr val="C3E6CB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55724"/>
                </a:solidFill>
              </a:rPr>
              <a:t>US-002 ✓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Fiche produit
+ tarif B2B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9856" y="2697480"/>
            <a:ext cx="1572768" cy="685800"/>
          </a:xfrm>
          <a:prstGeom prst="rect">
            <a:avLst/>
          </a:prstGeom>
          <a:solidFill>
            <a:srgbClr val="C3E6CB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55724"/>
                </a:solidFill>
              </a:rPr>
              <a:t>US-005 ✓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Formulaire
+ SIRET regex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8344" y="2697480"/>
            <a:ext cx="1572768" cy="685800"/>
          </a:xfrm>
          <a:prstGeom prst="rect">
            <a:avLst/>
          </a:prstGeom>
          <a:solidFill>
            <a:srgbClr val="C3E6CB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55724"/>
                </a:solidFill>
              </a:rPr>
              <a:t>US-006 ✓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Connexion
réussie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6832" y="2697480"/>
            <a:ext cx="1572768" cy="685800"/>
          </a:xfrm>
          <a:prstGeom prst="rect">
            <a:avLst/>
          </a:prstGeom>
          <a:solidFill>
            <a:srgbClr val="C3E6CB"/>
          </a:solidFill>
          <a:ln w="19050">
            <a:solidFill>
              <a:srgbClr val="155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55724"/>
                </a:solidFill>
              </a:rPr>
              <a:t>US-006 ✓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Statuts: att.
refusé, bloqué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697480"/>
            <a:ext cx="1572768" cy="685800"/>
          </a:xfrm>
          <a:prstGeom prst="rect">
            <a:avLst/>
          </a:prstGeom>
          <a:solidFill>
            <a:srgbClr val="E2D9F3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6F42C1"/>
                </a:solidFill>
              </a:rPr>
              <a:t>SPIKE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Éval. PSP
Stripe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493008"/>
            <a:ext cx="14173200" cy="256032"/>
          </a:xfrm>
          <a:prstGeom prst="rect">
            <a:avLst/>
          </a:prstGeom>
          <a:solidFill>
            <a:srgbClr val="D1ECF1"/>
          </a:solidFill>
          <a:ln w="254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17A2B8"/>
                </a:solidFill>
              </a:rPr>
              <a:t>  🏃 Sprint 2 — Commande bout en bout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79476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US-009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Ajout au
panier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53527" y="379476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US-010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N° bon de
commande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72016" y="379476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US-011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Email
confirmation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4590288"/>
            <a:ext cx="14173200" cy="256032"/>
          </a:xfrm>
          <a:prstGeom prst="rect">
            <a:avLst/>
          </a:prstGeom>
          <a:solidFill>
            <a:srgbClr val="CCE5FF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007BFF"/>
                </a:solidFill>
              </a:rPr>
              <a:t>  🏃 Sprint 3 — Paiement &amp; Facturation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489204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US-016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Paiement CB
3D Secure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45368" y="4892040"/>
            <a:ext cx="1572768" cy="6858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7A2B8"/>
                </a:solidFill>
              </a:rPr>
              <a:t>US-012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Historique
commandes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687568"/>
            <a:ext cx="14173200" cy="256032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28A745"/>
                </a:solidFill>
              </a:rPr>
              <a:t>  🏃 Sprint 4 — Enrichissement UX &amp; Livraisons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1572768" cy="6858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7A2B8"/>
                </a:solidFill>
              </a:rPr>
              <a:t>US-003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Filtres
produits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600432" y="5989320"/>
            <a:ext cx="1572768" cy="6858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7A2B8"/>
                </a:solidFill>
              </a:rPr>
              <a:t>US-019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Frais livraison
automatique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18520" y="5989320"/>
            <a:ext cx="1572768" cy="6858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7A2B8"/>
                </a:solidFill>
              </a:rPr>
              <a:t>US-021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N° suivi
transporteur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6784848"/>
            <a:ext cx="14173200" cy="256032"/>
          </a:xfrm>
          <a:prstGeom prst="rect">
            <a:avLst/>
          </a:prstGeom>
          <a:solidFill>
            <a:srgbClr val="E2D9F3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6F42C1"/>
                </a:solidFill>
              </a:rPr>
              <a:t>  🔬 IP Sprint — Could Have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7086600"/>
            <a:ext cx="1572768" cy="685800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28A745"/>
                </a:solidFill>
              </a:rPr>
              <a:t>US-004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Fiche tech.
PDF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9856" y="7086600"/>
            <a:ext cx="1572768" cy="685800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28A745"/>
                </a:solidFill>
              </a:rPr>
              <a:t>US-023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Email bienvenue
+ guide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600432" y="7086600"/>
            <a:ext cx="1572768" cy="685800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28A745"/>
                </a:solidFill>
              </a:rPr>
              <a:t>US-020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Adresses
livraison mult.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7882127"/>
            <a:ext cx="14173200" cy="256032"/>
          </a:xfrm>
          <a:prstGeom prst="rect">
            <a:avLst/>
          </a:prstGeom>
          <a:solidFill>
            <a:srgbClr val="F8D7D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DC3545"/>
                </a:solidFill>
              </a:rPr>
              <a:t>  🚀 Phase 2 — Hors scope V1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19856" y="8183879"/>
            <a:ext cx="1572768" cy="685800"/>
          </a:xfrm>
          <a:prstGeom prst="rect">
            <a:avLst/>
          </a:prstGeom>
          <a:solidFill>
            <a:srgbClr val="F8D7DA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DC3545"/>
                </a:solidFill>
              </a:rPr>
              <a:t>—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SIRET via
API INSEE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8183879"/>
            <a:ext cx="1572768" cy="685800"/>
          </a:xfrm>
          <a:prstGeom prst="rect">
            <a:avLst/>
          </a:prstGeom>
          <a:solidFill>
            <a:srgbClr val="F8D7DA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DC3545"/>
                </a:solidFill>
              </a:rPr>
              <a:t>US-017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Paiement
différé 30j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9921240"/>
            <a:ext cx="145389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0">
                <a:solidFill>
                  <a:srgbClr val="FFFFFF"/>
                </a:solidFill>
              </a:rPr>
              <a:t>Aginode e-Commerce B2B  ·  PI-2026-Q3  ·  Vélocité Sprint 1 : 16 SP  ·  Atelier Story Mapping 2026-04-15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630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Story Map — Swimlane Admin Aginode   |   Aginode e-Commerce B2B   |   PI-2026-Q3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14538960" cy="320040"/>
          </a:xfrm>
          <a:prstGeom prst="rect">
            <a:avLst/>
          </a:prstGeom>
          <a:solidFill>
            <a:srgbClr val="495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🔧  SWIMLANE — ADMIN AGINODE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66294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👥 Gérer les comptes B2B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005840"/>
            <a:ext cx="66294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📋 Gérer les commandes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Notif
nouvelle demande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Liste demandes
en attente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Valider
compte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Rejeter
avec motif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Dashboard
commandes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Statut +
notification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Export
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1737360"/>
            <a:ext cx="164592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Facture
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395728"/>
            <a:ext cx="14173200" cy="256032"/>
          </a:xfrm>
          <a:prstGeom prst="rect">
            <a:avLst/>
          </a:prstGeom>
          <a:solidFill>
            <a:srgbClr val="FFF3CD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F0A500"/>
                </a:solidFill>
              </a:rPr>
              <a:t>  🏃 Sprint 1 → Sprint 2 (US-007 reportée) — Validation des comptes B2B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69748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US-007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Notif admin
nouvelle demande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269748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US-007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Badge compteur
en attente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69748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US-007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Valider compte
→ email activ.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69748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US-007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Rejeter + motif
obligatoire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493008"/>
            <a:ext cx="14173200" cy="256032"/>
          </a:xfrm>
          <a:prstGeom prst="rect">
            <a:avLst/>
          </a:prstGeom>
          <a:solidFill>
            <a:srgbClr val="D1ECF1"/>
          </a:solidFill>
          <a:ln w="254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17A2B8"/>
                </a:solidFill>
              </a:rPr>
              <a:t>  🏃 Sprint 2 — Gestion des commandes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379476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US-013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Dashboard
commandes B2B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3794760"/>
            <a:ext cx="1572768" cy="685800"/>
          </a:xfrm>
          <a:prstGeom prst="rect">
            <a:avLst/>
          </a:prstGeom>
          <a:solidFill>
            <a:srgbClr val="FFC107"/>
          </a:solidFill>
          <a:ln w="190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856404"/>
                </a:solidFill>
              </a:rPr>
              <a:t>US-014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Statut +
notif 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590288"/>
            <a:ext cx="14173200" cy="256032"/>
          </a:xfrm>
          <a:prstGeom prst="rect">
            <a:avLst/>
          </a:prstGeom>
          <a:solidFill>
            <a:srgbClr val="CCE5FF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007BFF"/>
                </a:solidFill>
              </a:rPr>
              <a:t>  🏃 Sprint 3 — Facturation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4892040"/>
            <a:ext cx="1572768" cy="6858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7A2B8"/>
                </a:solidFill>
              </a:rPr>
              <a:t>US-015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Export
commandes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24360" y="4892040"/>
            <a:ext cx="1572768" cy="685800"/>
          </a:xfrm>
          <a:prstGeom prst="rect">
            <a:avLst/>
          </a:prstGeom>
          <a:solidFill>
            <a:srgbClr val="D1ECF1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17A2B8"/>
                </a:solidFill>
              </a:rPr>
              <a:t>US-018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Génération
facture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687568"/>
            <a:ext cx="14173200" cy="256032"/>
          </a:xfrm>
          <a:prstGeom prst="rect">
            <a:avLst/>
          </a:prstGeom>
          <a:solidFill>
            <a:srgbClr val="E2D9F3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800" b="1">
                <a:solidFill>
                  <a:srgbClr val="6F42C1"/>
                </a:solidFill>
              </a:rPr>
              <a:t>  🔬 IP Sprint — Could Have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5989320"/>
            <a:ext cx="1572768" cy="685800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28A745"/>
                </a:solidFill>
              </a:rPr>
              <a:t>US-022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Notif email
demande compte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24360" y="5989320"/>
            <a:ext cx="1572768" cy="685800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28A745"/>
                </a:solidFill>
              </a:rPr>
              <a:t>US-008</a:t>
            </a:r>
          </a:p>
          <a:p>
            <a:pPr algn="ctr"/>
            <a:r>
              <a:rPr sz="750" b="0">
                <a:solidFill>
                  <a:srgbClr val="1A1A2E"/>
                </a:solidFill>
              </a:rPr>
              <a:t>Tarifs négociés
par 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9921240"/>
            <a:ext cx="145389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0">
                <a:solidFill>
                  <a:srgbClr val="FFFFFF"/>
                </a:solidFill>
              </a:rPr>
              <a:t>Aginode e-Commerce B2B  ·  PI-2026-Q3  ·  Atelier Story Mapping 2026-04-15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630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Traçabilité Story Map → Backlog   |   Aginode e-Commerce B2B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7315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US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" y="640080"/>
            <a:ext cx="32004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640080"/>
            <a:ext cx="22860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Activité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565392" y="640080"/>
            <a:ext cx="8229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43216" y="640080"/>
            <a:ext cx="11887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MoSCoW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640080"/>
            <a:ext cx="5486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90304" y="640080"/>
            <a:ext cx="1371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Statut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969264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" y="969264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Navigation catalogue par catégorie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969264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Découvrir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96926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969264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969264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0304" y="969264"/>
            <a:ext cx="1371600" cy="292608"/>
          </a:xfrm>
          <a:prstGeom prst="rect">
            <a:avLst/>
          </a:prstGeom>
          <a:solidFill>
            <a:srgbClr val="C3E6C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✅ Livré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298448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" y="1298448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Fiche produit complète + tarif B2B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298448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Découvrir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392" y="1298448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1298448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298448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1298448"/>
            <a:ext cx="1371600" cy="292608"/>
          </a:xfrm>
          <a:prstGeom prst="rect">
            <a:avLst/>
          </a:prstGeom>
          <a:solidFill>
            <a:srgbClr val="C3E6C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✅ Livré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627632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" y="1627632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Filtres produits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162763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Découvrir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162763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6" y="1627632"/>
            <a:ext cx="118872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Should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1627632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0304" y="1627632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956816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" y="1956816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Fiche technique PDF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1956816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Découvrir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65392" y="1956816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43216" y="1956816"/>
            <a:ext cx="1188720" cy="292608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Could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956816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90304" y="1956816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228600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" y="2286000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Création compte professionnel B2B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286000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S'inscrire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5392" y="228600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43216" y="2286000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2286000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90304" y="2286000"/>
            <a:ext cx="1371600" cy="292608"/>
          </a:xfrm>
          <a:prstGeom prst="rect">
            <a:avLst/>
          </a:prstGeom>
          <a:solidFill>
            <a:srgbClr val="C3E6C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✅ Livré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2615184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" y="2615184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Connexion acheteur B2B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24528" y="2615184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Se connecter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5392" y="2615184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43216" y="2615184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2615184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90304" y="2615184"/>
            <a:ext cx="1371600" cy="292608"/>
          </a:xfrm>
          <a:prstGeom prst="rect">
            <a:avLst/>
          </a:prstGeom>
          <a:solidFill>
            <a:srgbClr val="C3E6C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✅ Livré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2944368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" y="2944368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Validation manuelle compte (admin)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24528" y="2944368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comptes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65392" y="294436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43216" y="2944368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2944368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90304" y="2944368"/>
            <a:ext cx="1371600" cy="292608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⚠️ Reporté S2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3273552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" y="3273552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Tarifs négociés par client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24528" y="3273552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comptes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65392" y="3273552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IP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43216" y="3273552"/>
            <a:ext cx="1188720" cy="292608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Could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86800" y="3273552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3273552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" y="3602736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US-009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9264" y="3602736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Ajout produits au panier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24528" y="3602736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Commander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65392" y="3602736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43216" y="3602736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3602736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90304" y="3602736"/>
            <a:ext cx="137160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🔄 En cours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3931920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264" y="3931920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Saisie N° bon de commande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24528" y="3931920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Commander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65392" y="3931920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43216" y="3931920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3931920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290304" y="3931920"/>
            <a:ext cx="137160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🔄 En cours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261104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9264" y="4261104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Email confirmation commande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24528" y="4261104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Commander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65392" y="426110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43216" y="4261104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86800" y="4261104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90304" y="4261104"/>
            <a:ext cx="137160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🔄 En cours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" y="4590288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9264" y="4590288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Historique commandes acheteur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24528" y="4590288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Suivre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65392" y="4590288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43216" y="4590288"/>
            <a:ext cx="118872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Should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4590288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90304" y="4590288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880" y="4919472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9264" y="4919472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Dashboard back-office commandes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24528" y="491947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cmd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65392" y="491947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43216" y="4919472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86800" y="4919472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3*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90304" y="4919472"/>
            <a:ext cx="137160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🔄 En cours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5248656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9264" y="5248656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Mise à jour statut + notif client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24528" y="5248656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cmd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65392" y="5248656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43216" y="5248656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686800" y="5248656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90304" y="5248656"/>
            <a:ext cx="137160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🔄 En cours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880" y="557784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9264" y="5577840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Export commandes CSV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24528" y="5577840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cmd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565392" y="557784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43216" y="5577840"/>
            <a:ext cx="118872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Should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686800" y="5577840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90304" y="5577840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5907023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9264" y="5907023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Paiement CB 3D Secure (Stripe)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224528" y="5907023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Payer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65392" y="5907023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443216" y="5907023"/>
            <a:ext cx="1188720" cy="292608"/>
          </a:xfrm>
          <a:prstGeom prst="rect">
            <a:avLst/>
          </a:prstGeom>
          <a:solidFill>
            <a:srgbClr val="FFC107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Must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86800" y="5907023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90304" y="5907023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82880" y="6236208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69264" y="6236208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Paiement différé 30j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224528" y="6236208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Payer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65392" y="623620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Ph2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43216" y="6236208"/>
            <a:ext cx="1188720" cy="292608"/>
          </a:xfrm>
          <a:prstGeom prst="rect">
            <a:avLst/>
          </a:prstGeom>
          <a:solidFill>
            <a:srgbClr val="F8D7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Phase 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686800" y="6236208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290304" y="6236208"/>
            <a:ext cx="1371600" cy="292608"/>
          </a:xfrm>
          <a:prstGeom prst="rect">
            <a:avLst/>
          </a:prstGeom>
          <a:solidFill>
            <a:srgbClr val="F8D7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Hors scope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82880" y="6565392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9264" y="6565392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Génération facture PDF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224528" y="6565392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cmd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65392" y="6565392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43216" y="6565392"/>
            <a:ext cx="118872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Should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686800" y="6565392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290304" y="6565392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2880" y="6894575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US-019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69264" y="6894575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Calcul frais livraison automatique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224528" y="6894575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Suivre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565392" y="6894575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43216" y="6894575"/>
            <a:ext cx="118872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Should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686800" y="6894575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290304" y="6894575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82880" y="7223760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US-020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9264" y="7223760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Adresses livraison multiples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224528" y="7223760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Suivre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65392" y="7223760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IP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443216" y="7223760"/>
            <a:ext cx="1188720" cy="292608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Could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86800" y="7223760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290304" y="7223760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82880" y="7552944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US-021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69264" y="7552944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Envoi numéro suivi transporteur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224528" y="7552944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Suivre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565392" y="755294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S4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443216" y="7552944"/>
            <a:ext cx="1188720" cy="292608"/>
          </a:xfrm>
          <a:prstGeom prst="rect">
            <a:avLst/>
          </a:prstGeom>
          <a:solidFill>
            <a:srgbClr val="D1ECF1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Should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686800" y="7552944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290304" y="7552944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2880" y="7882127"/>
            <a:ext cx="73152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US-022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9264" y="7882127"/>
            <a:ext cx="32004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Notification email demande compte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224528" y="7882127"/>
            <a:ext cx="228600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Admin comptes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65392" y="7882127"/>
            <a:ext cx="82296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IP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443216" y="7882127"/>
            <a:ext cx="1188720" cy="292608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Could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686800" y="7882127"/>
            <a:ext cx="548640" cy="29260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290304" y="7882127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2880" y="8211312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1">
                <a:solidFill>
                  <a:srgbClr val="1A1A2E"/>
                </a:solidFill>
              </a:rPr>
              <a:t>US-023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69264" y="8211312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Email bienvenue + guide démarrage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224528" y="8211312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S'inscrire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565392" y="821131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IP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443216" y="8211312"/>
            <a:ext cx="1188720" cy="292608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Could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686800" y="8211312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290304" y="8211312"/>
            <a:ext cx="137160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50" b="0">
                <a:solidFill>
                  <a:srgbClr val="1A1A2E"/>
                </a:solidFill>
              </a:rPr>
              <a:t>À faire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82880" y="9921240"/>
            <a:ext cx="145389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0">
                <a:solidFill>
                  <a:srgbClr val="FFFFFF"/>
                </a:solidFill>
              </a:rPr>
              <a:t>* US-013 réévaluée 5 → 3 SP après Sprint 1  ·  Total V1 : 70 SP · 23 US  ·  PI-2026-Q3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630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>
                <a:solidFill>
                  <a:srgbClr val="FFFFFF"/>
                </a:solidFill>
              </a:rPr>
              <a:t>Décisions clés — Atelier Story Mapping 2026-04-15   |   Aginode e-Commerce B2B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85800"/>
            <a:ext cx="7132320" cy="1691640"/>
          </a:xfrm>
          <a:prstGeom prst="rect">
            <a:avLst/>
          </a:prstGeom>
          <a:solidFill>
            <a:srgbClr val="FFC107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7589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Tarif B2B visible dès la fiche produit pour tout acheteur connecté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Critère go/no-go recette finale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Direction Commerciale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685800"/>
            <a:ext cx="7132320" cy="1691640"/>
          </a:xfrm>
          <a:prstGeom prst="rect">
            <a:avLst/>
          </a:prstGeom>
          <a:solidFill>
            <a:srgbClr val="D1ECF1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89519" y="7772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7589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Story map en 2 swimlanes : Acheteur B2B / Admin Aginode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2801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Clarté du parcours 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6916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514600"/>
            <a:ext cx="7132320" cy="1691640"/>
          </a:xfrm>
          <a:prstGeom prst="rect">
            <a:avLst/>
          </a:prstGeom>
          <a:solidFill>
            <a:srgbClr val="FFC107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6060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5877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Validation SIRET = regex 14 chiffres V1 — API INSEE 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089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US-005 — Réduction complexité Sprint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BA + DEV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514600"/>
            <a:ext cx="7132320" cy="1691640"/>
          </a:xfrm>
          <a:prstGeom prst="rect">
            <a:avLst/>
          </a:prstGeom>
          <a:solidFill>
            <a:srgbClr val="D4EDD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19" y="26060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5877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Fiche technique PDF = Could Have (bouton conditionnel à l'existence du fichier)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1089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US-004 — Catalogue pas encore numérisé à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5204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343400"/>
            <a:ext cx="7132320" cy="1691640"/>
          </a:xfrm>
          <a:prstGeom prst="rect">
            <a:avLst/>
          </a:prstGeom>
          <a:solidFill>
            <a:srgbClr val="FFC107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165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N° bon de commande = Must Have, champ obligatoire au checkout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377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US-010 — Obligation comptable clients Aginode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492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BA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4343400"/>
            <a:ext cx="7132320" cy="1691640"/>
          </a:xfrm>
          <a:prstGeom prst="rect">
            <a:avLst/>
          </a:prstGeom>
          <a:solidFill>
            <a:srgbClr val="E2D9F3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9519" y="44348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4165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SPIKE PSP Sprint 1 (1j timebox) → Stripe retenu le 2026-05-20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9377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US-016 — Confirmé après évaluation Stripe vs PayPlug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53492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DEV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6172200"/>
            <a:ext cx="7132320" cy="1691640"/>
          </a:xfrm>
          <a:prstGeom prst="rect">
            <a:avLst/>
          </a:prstGeom>
          <a:solidFill>
            <a:srgbClr val="F8D7D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62636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2453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Paiement différé 30j = Phase 2 — hors scope 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67665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US-017 — Complexité juridique + intégration ERP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71780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DEV + BA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6172200"/>
            <a:ext cx="7132320" cy="1691640"/>
          </a:xfrm>
          <a:prstGeom prst="rect">
            <a:avLst/>
          </a:prstGeom>
          <a:solidFill>
            <a:srgbClr val="C3E6C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89519" y="62636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62453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Walking skeleton Sprint 1 = compte B2B activé + catalogue navigable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67665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Milestone M1 — Démo interne Direction Commerciale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71780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Équipe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8001000"/>
            <a:ext cx="7132320" cy="1691640"/>
          </a:xfrm>
          <a:prstGeom prst="rect">
            <a:avLst/>
          </a:prstGeom>
          <a:solidFill>
            <a:srgbClr val="FFF3CD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4320" y="80924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80741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Wireframes catalogue + fiche produit = critère DoR Sprint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85953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Livraison UX avant Sprint Planning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90068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PO + 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8001000"/>
            <a:ext cx="7132320" cy="1691640"/>
          </a:xfrm>
          <a:prstGeom prst="rect">
            <a:avLst/>
          </a:prstGeom>
          <a:solidFill>
            <a:srgbClr val="D1ECF1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589519" y="8092440"/>
            <a:ext cx="5029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80741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BA rédige les 4 templates email avant Sprint Planning Sprint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85953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Impact : Emails : confirmation, notif admin, activation, refus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90068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</a:rPr>
              <a:t>Acté par : BA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9921240"/>
            <a:ext cx="145389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0">
                <a:solidFill>
                  <a:srgbClr val="FFFFFF"/>
                </a:solidFill>
              </a:rPr>
              <a:t>CR complet : 01_po_scrum/story_mapping/cr_story_mapping.md  ·  Aginode e-Commerce B2B  ·  PI-2026-Q3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1101</Words>
  <Application>Microsoft Office PowerPoint</Application>
  <PresentationFormat>Personnalisé</PresentationFormat>
  <Paragraphs>321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Guy HUIBONHOA</cp:lastModifiedBy>
  <cp:revision>1</cp:revision>
  <dcterms:created xsi:type="dcterms:W3CDTF">2013-01-27T09:14:16Z</dcterms:created>
  <dcterms:modified xsi:type="dcterms:W3CDTF">2026-05-20T13:58:28Z</dcterms:modified>
  <cp:category/>
</cp:coreProperties>
</file>